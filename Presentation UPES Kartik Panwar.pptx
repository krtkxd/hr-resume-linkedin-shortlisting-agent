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80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32354"/>
          </a:solidFill>
          <a:ln w="12700">
            <a:solidFill>
              <a:srgbClr val="1323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A2050"/>
          </a:solidFill>
          <a:ln w="12700">
            <a:solidFill>
              <a:srgbClr val="0A2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320040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AI-POWERED SYSTEM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59436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Resume &amp;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457200" y="1719072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Shortlisting Agent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457200" y="2542032"/>
            <a:ext cx="411480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Presented by: </a:t>
            </a:r>
            <a:r>
              <a:rPr lang="en-US" sz="1300" b="1" dirty="0">
                <a:solidFill>
                  <a:srgbClr val="FFFFFF"/>
                </a:solidFill>
              </a:rPr>
              <a:t>Kartik Panwar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Institution: </a:t>
            </a:r>
            <a:r>
              <a:rPr lang="en-US" sz="1300" b="1" dirty="0">
                <a:solidFill>
                  <a:srgbClr val="FFFFFF"/>
                </a:solidFill>
              </a:rPr>
              <a:t>UPES Dehradun — Department of Computer Science AIML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Date: </a:t>
            </a:r>
            <a:r>
              <a:rPr lang="en-US" sz="1300" b="1" dirty="0">
                <a:solidFill>
                  <a:srgbClr val="FFFFFF"/>
                </a:solidFill>
              </a:rPr>
              <a:t>May 2026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32354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AI Agent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6032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32354"/>
          </a:solidFill>
          <a:ln/>
        </p:spPr>
      </p:sp>
      <p:sp>
        <p:nvSpPr>
          <p:cNvPr id="18" name="Text 15"/>
          <p:cNvSpPr/>
          <p:nvPr/>
        </p:nvSpPr>
        <p:spPr>
          <a:xfrm>
            <a:off x="256032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NLP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32354"/>
          </a:solidFill>
          <a:ln/>
        </p:spPr>
      </p:sp>
      <p:sp>
        <p:nvSpPr>
          <p:cNvPr id="20" name="Text 17"/>
          <p:cNvSpPr/>
          <p:nvPr/>
        </p:nvSpPr>
        <p:spPr>
          <a:xfrm>
            <a:off x="466344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Semantic Matching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6656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32354"/>
          </a:solidFill>
          <a:ln/>
        </p:spPr>
      </p:sp>
      <p:sp>
        <p:nvSpPr>
          <p:cNvPr id="22" name="Text 19"/>
          <p:cNvSpPr/>
          <p:nvPr/>
        </p:nvSpPr>
        <p:spPr>
          <a:xfrm>
            <a:off x="676656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</a:rPr>
              <a:t>Explainable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595360" y="201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2984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2344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48056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Resumes per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Job Opening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46120" y="11887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18872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29844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12344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3374136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HR Time Spent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on Screening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72200" y="11887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72200" y="118872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129844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12344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6300216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Unconscious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Bias in Hiring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283464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01752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3544" y="29077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Volume Overload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923544" y="316382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Hundreds of applicants per role; manual review is unsustainable at scale.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709160" y="283464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01752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12664" y="29077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Inconsistency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312664" y="316382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Different recruiters apply different criteria — no standardised evaluation.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20040" y="384048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023360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23544" y="3913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Unconscious Bias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923544" y="416966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Subjective decisions favour certain demographics, violating fair-hiring norms.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4709160" y="384048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4023360"/>
            <a:ext cx="384048" cy="38404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12664" y="3913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Slow Time-to-Hire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5312664" y="416966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Delayed screening means losing top talent to faster-moving competitors.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32354"/>
          </a:solidFill>
          <a:ln w="12700">
            <a:solidFill>
              <a:srgbClr val="132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132354"/>
          </a:solidFill>
          <a:ln w="12700">
            <a:solidFill>
              <a:srgbClr val="1323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Objective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</a:rPr>
              <a:t>What this system is designed to achieve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822960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417320"/>
            <a:ext cx="384048" cy="3840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70432" y="1435608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609344" y="12984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Automate Resume Screening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09344" y="15819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Eliminate manual effort with AI-driven parsing, semantic matching, and automated scoring across all applicants.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167128"/>
            <a:ext cx="822960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167128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350008"/>
            <a:ext cx="384048" cy="3840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70432" y="2368296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4"/>
          <p:cNvSpPr/>
          <p:nvPr/>
        </p:nvSpPr>
        <p:spPr>
          <a:xfrm>
            <a:off x="1170432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609344" y="223113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Improve Speed &amp; Consistency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609344" y="2514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Reduce screening time from days to minutes with deterministic, repeatable evaluation criteria applied uniformly.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099816"/>
            <a:ext cx="822960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099816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282696"/>
            <a:ext cx="384048" cy="38404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170432" y="3300984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0"/>
          <p:cNvSpPr/>
          <p:nvPr/>
        </p:nvSpPr>
        <p:spPr>
          <a:xfrm>
            <a:off x="1170432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609344" y="31638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Transparent &amp; Explainable AI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609344" y="344728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Every score is justified with feature-level rationale — recruiters understand why a candidate was shortlisted.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4032504"/>
            <a:ext cx="822960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" y="4032504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215384"/>
            <a:ext cx="384048" cy="38404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170432" y="4233672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26"/>
          <p:cNvSpPr/>
          <p:nvPr/>
        </p:nvSpPr>
        <p:spPr>
          <a:xfrm>
            <a:off x="1170432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609344" y="40965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Human-in-the-Loop Control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609344" y="437997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AI recommends; humans decide. Overrides are logged to maintain accountability and fairness in the process.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Solution Overview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595360" y="201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143000"/>
            <a:ext cx="22860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43000"/>
            <a:ext cx="64008" cy="7498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3075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21615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Job Description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4400" y="15270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Text / PDF upload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2176272"/>
            <a:ext cx="22860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2176272"/>
            <a:ext cx="64008" cy="7498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34086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2494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Resumes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14400" y="25603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PDF / DOCX batch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74320" y="3209544"/>
            <a:ext cx="22860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3209544"/>
            <a:ext cx="64008" cy="7498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37413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2826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LinkedIn Data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14400" y="359359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Profile import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578608" y="2322576"/>
            <a:ext cx="4572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2194560"/>
            <a:ext cx="274320" cy="274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246120" y="1115568"/>
            <a:ext cx="2926080" cy="2889504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46120" y="1115568"/>
            <a:ext cx="2926080" cy="7315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1234440"/>
            <a:ext cx="594360" cy="5943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291840" y="18745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Shortlisting Engine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401568" y="2331720"/>
            <a:ext cx="2596896" cy="320040"/>
          </a:xfrm>
          <a:prstGeom prst="roundRect">
            <a:avLst>
              <a:gd name="adj" fmla="val 14286"/>
            </a:avLst>
          </a:prstGeom>
          <a:solidFill>
            <a:srgbClr val="132354"/>
          </a:solidFill>
          <a:ln/>
        </p:spPr>
      </p:sp>
      <p:sp>
        <p:nvSpPr>
          <p:cNvPr id="29" name="Text 21"/>
          <p:cNvSpPr/>
          <p:nvPr/>
        </p:nvSpPr>
        <p:spPr>
          <a:xfrm>
            <a:off x="3401568" y="233172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</a:rPr>
              <a:t>JD Parsing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401568" y="2734056"/>
            <a:ext cx="2596896" cy="320040"/>
          </a:xfrm>
          <a:prstGeom prst="roundRect">
            <a:avLst>
              <a:gd name="adj" fmla="val 14286"/>
            </a:avLst>
          </a:prstGeom>
          <a:solidFill>
            <a:srgbClr val="132354"/>
          </a:solidFill>
          <a:ln/>
        </p:spPr>
      </p:sp>
      <p:sp>
        <p:nvSpPr>
          <p:cNvPr id="31" name="Text 23"/>
          <p:cNvSpPr/>
          <p:nvPr/>
        </p:nvSpPr>
        <p:spPr>
          <a:xfrm>
            <a:off x="3401568" y="2734056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</a:rPr>
              <a:t>Resume Parsing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3401568" y="3136392"/>
            <a:ext cx="2596896" cy="320040"/>
          </a:xfrm>
          <a:prstGeom prst="roundRect">
            <a:avLst>
              <a:gd name="adj" fmla="val 14286"/>
            </a:avLst>
          </a:prstGeom>
          <a:solidFill>
            <a:srgbClr val="132354"/>
          </a:solidFill>
          <a:ln/>
        </p:spPr>
      </p:sp>
      <p:sp>
        <p:nvSpPr>
          <p:cNvPr id="33" name="Text 25"/>
          <p:cNvSpPr/>
          <p:nvPr/>
        </p:nvSpPr>
        <p:spPr>
          <a:xfrm>
            <a:off x="3401568" y="3136392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</a:rPr>
              <a:t>Semantic Matching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401568" y="3538728"/>
            <a:ext cx="2596896" cy="320040"/>
          </a:xfrm>
          <a:prstGeom prst="roundRect">
            <a:avLst>
              <a:gd name="adj" fmla="val 14286"/>
            </a:avLst>
          </a:prstGeom>
          <a:solidFill>
            <a:srgbClr val="132354"/>
          </a:solidFill>
          <a:ln/>
        </p:spPr>
      </p:sp>
      <p:sp>
        <p:nvSpPr>
          <p:cNvPr id="35" name="Text 27"/>
          <p:cNvSpPr/>
          <p:nvPr/>
        </p:nvSpPr>
        <p:spPr>
          <a:xfrm>
            <a:off x="3401568" y="3538728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</a:rPr>
              <a:t>Scoring &amp; Ranking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190488" y="2322576"/>
            <a:ext cx="457200" cy="3657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2194560"/>
            <a:ext cx="274320" cy="274320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6812280" y="169164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812280" y="1691640"/>
            <a:ext cx="64008" cy="1920240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1810512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9494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Output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6912864" y="2176272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  Ranked Candidates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6912864" y="251460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  Score Breakdown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6912864" y="285292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  Explainable Report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6912864" y="3191256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→  HR Override Panel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274320" y="4206240"/>
            <a:ext cx="8595360" cy="621792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4315968"/>
            <a:ext cx="329184" cy="32918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41248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</a:rPr>
              <a:t>Human-in-the-Loop: HR retains full control — AI recommends, humans make the final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Workflow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</a:rPr>
              <a:t>End-to-end pipeline from input to final recommendation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261872"/>
            <a:ext cx="1920240" cy="91440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61872"/>
            <a:ext cx="19202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01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Layer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38912" y="1645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JD + Resumes + LinkedIn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1609344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532888" y="1261872"/>
            <a:ext cx="1920240" cy="91440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532888" y="1261872"/>
            <a:ext cx="192024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0"/>
          <p:cNvSpPr/>
          <p:nvPr/>
        </p:nvSpPr>
        <p:spPr>
          <a:xfrm>
            <a:off x="2606040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</a:rPr>
              <a:t>02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166420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06040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JD Parsing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2606040" y="1645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Extract skills &amp; requirements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609344"/>
            <a:ext cx="201168" cy="20116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700016" y="1261872"/>
            <a:ext cx="1920240" cy="91440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700016" y="1261872"/>
            <a:ext cx="1920240" cy="64008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2" name="Text 15"/>
          <p:cNvSpPr/>
          <p:nvPr/>
        </p:nvSpPr>
        <p:spPr>
          <a:xfrm>
            <a:off x="4773168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8D1"/>
                </a:solidFill>
              </a:rPr>
              <a:t>03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166420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773168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Profile Parsing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773168" y="1645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Parse resume &amp; LinkedIn data</a:t>
            </a:r>
            <a:endParaRPr lang="en-US" sz="8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609344"/>
            <a:ext cx="201168" cy="20116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867144" y="1261872"/>
            <a:ext cx="1920240" cy="91440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6867144" y="1261872"/>
            <a:ext cx="192024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0"/>
          <p:cNvSpPr/>
          <p:nvPr/>
        </p:nvSpPr>
        <p:spPr>
          <a:xfrm>
            <a:off x="6940296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04</a:t>
            </a:r>
            <a:endParaRPr lang="en-US" sz="9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1664208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40296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Semantic Matching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6940296" y="16459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Embeddings &amp; cosine similarity</a:t>
            </a:r>
            <a:endParaRPr lang="en-US" sz="850" dirty="0"/>
          </a:p>
        </p:txBody>
      </p:sp>
      <p:sp>
        <p:nvSpPr>
          <p:cNvPr id="33" name="Shape 23"/>
          <p:cNvSpPr/>
          <p:nvPr/>
        </p:nvSpPr>
        <p:spPr>
          <a:xfrm>
            <a:off x="7269480" y="2176272"/>
            <a:ext cx="0" cy="50292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955280" y="2542032"/>
            <a:ext cx="201168" cy="201168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5971032" y="2834640"/>
            <a:ext cx="2560320" cy="91440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5971032" y="2834640"/>
            <a:ext cx="2560320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7" name="Text 26"/>
          <p:cNvSpPr/>
          <p:nvPr/>
        </p:nvSpPr>
        <p:spPr>
          <a:xfrm>
            <a:off x="6062472" y="2944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42"/>
                </a:solidFill>
              </a:rPr>
              <a:t>05</a:t>
            </a:r>
            <a:endParaRPr lang="en-US" sz="9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72" y="3236976"/>
            <a:ext cx="292608" cy="29260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473952" y="29443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Scoring Agent</a:t>
            </a:r>
            <a:endParaRPr lang="en-US" sz="1100" dirty="0"/>
          </a:p>
        </p:txBody>
      </p:sp>
      <p:sp>
        <p:nvSpPr>
          <p:cNvPr id="40" name="Text 28"/>
          <p:cNvSpPr/>
          <p:nvPr/>
        </p:nvSpPr>
        <p:spPr>
          <a:xfrm>
            <a:off x="6473952" y="3218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Multi-dimensional score calc</a:t>
            </a:r>
            <a:endParaRPr lang="en-US" sz="85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650992" y="3200400"/>
            <a:ext cx="201168" cy="201168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3182112" y="2834640"/>
            <a:ext cx="2560320" cy="91440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30"/>
          <p:cNvSpPr/>
          <p:nvPr/>
        </p:nvSpPr>
        <p:spPr>
          <a:xfrm>
            <a:off x="3182112" y="2834640"/>
            <a:ext cx="2560320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4" name="Text 31"/>
          <p:cNvSpPr/>
          <p:nvPr/>
        </p:nvSpPr>
        <p:spPr>
          <a:xfrm>
            <a:off x="3273552" y="2944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</a:rPr>
              <a:t>06</a:t>
            </a:r>
            <a:endParaRPr lang="en-US" sz="9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3552" y="3236976"/>
            <a:ext cx="292608" cy="29260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3685032" y="29443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Ranking Engine</a:t>
            </a:r>
            <a:endParaRPr lang="en-US" sz="1100" dirty="0"/>
          </a:p>
        </p:txBody>
      </p:sp>
      <p:sp>
        <p:nvSpPr>
          <p:cNvPr id="47" name="Text 33"/>
          <p:cNvSpPr/>
          <p:nvPr/>
        </p:nvSpPr>
        <p:spPr>
          <a:xfrm>
            <a:off x="3685032" y="3218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Sorted shortlist generation</a:t>
            </a:r>
            <a:endParaRPr lang="en-US" sz="85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862072" y="3200400"/>
            <a:ext cx="201168" cy="201168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393192" y="2834640"/>
            <a:ext cx="2560320" cy="91440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35"/>
          <p:cNvSpPr/>
          <p:nvPr/>
        </p:nvSpPr>
        <p:spPr>
          <a:xfrm>
            <a:off x="393192" y="283464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36"/>
          <p:cNvSpPr/>
          <p:nvPr/>
        </p:nvSpPr>
        <p:spPr>
          <a:xfrm>
            <a:off x="484632" y="29443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07</a:t>
            </a:r>
            <a:endParaRPr lang="en-US" sz="9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" y="3236976"/>
            <a:ext cx="292608" cy="29260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896112" y="29443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 + Override</a:t>
            </a:r>
            <a:endParaRPr lang="en-US" sz="1100" dirty="0"/>
          </a:p>
        </p:txBody>
      </p:sp>
      <p:sp>
        <p:nvSpPr>
          <p:cNvPr id="54" name="Text 38"/>
          <p:cNvSpPr/>
          <p:nvPr/>
        </p:nvSpPr>
        <p:spPr>
          <a:xfrm>
            <a:off x="896112" y="3218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Export report &amp; HR review</a:t>
            </a:r>
            <a:endParaRPr lang="en-US" sz="850" dirty="0"/>
          </a:p>
        </p:txBody>
      </p:sp>
      <p:sp>
        <p:nvSpPr>
          <p:cNvPr id="55" name="Shape 39"/>
          <p:cNvSpPr/>
          <p:nvPr/>
        </p:nvSpPr>
        <p:spPr>
          <a:xfrm>
            <a:off x="365760" y="3950208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4133088"/>
            <a:ext cx="347472" cy="347472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1005840" y="4005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Human Override Module</a:t>
            </a:r>
            <a:endParaRPr lang="en-US" sz="1200" dirty="0"/>
          </a:p>
        </p:txBody>
      </p:sp>
      <p:sp>
        <p:nvSpPr>
          <p:cNvPr id="58" name="Text 41"/>
          <p:cNvSpPr/>
          <p:nvPr/>
        </p:nvSpPr>
        <p:spPr>
          <a:xfrm>
            <a:off x="1005840" y="427939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HR reviewers can adjust rankings at any stage. All manual changes are logged with reasoning for audit trail and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595360" y="201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15568"/>
            <a:ext cx="64008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1115568"/>
            <a:ext cx="1600200" cy="457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795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2070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565C0"/>
                </a:solidFill>
              </a:rPr>
              <a:t>INPUT LAYER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920240" y="1207008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JD  |  Resumes (PDF/DOCX)  |  LinkedIn Profiles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0" y="1572768"/>
            <a:ext cx="0" cy="731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1655064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1655064"/>
            <a:ext cx="64008" cy="45720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6" name="Shape 12"/>
          <p:cNvSpPr/>
          <p:nvPr/>
        </p:nvSpPr>
        <p:spPr>
          <a:xfrm>
            <a:off x="274320" y="1655064"/>
            <a:ext cx="1600200" cy="457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7190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" y="17465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277BD"/>
                </a:solidFill>
              </a:rPr>
              <a:t>PARSING LAYER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1920240" y="1746504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JD Parser Agent  |  Resume Parser Agent  |  Profile Scraper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0" y="2112264"/>
            <a:ext cx="0" cy="731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2194560"/>
            <a:ext cx="64008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3" name="Shape 18"/>
          <p:cNvSpPr/>
          <p:nvPr/>
        </p:nvSpPr>
        <p:spPr>
          <a:xfrm>
            <a:off x="274320" y="2194560"/>
            <a:ext cx="1600200" cy="457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25856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22860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838F"/>
                </a:solidFill>
              </a:rPr>
              <a:t>NLP / EMBEDDING LAYER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1920240" y="2286000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spaCy NER  |  Sentence Transformers  |  Skill Extractor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0" y="2651760"/>
            <a:ext cx="0" cy="731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74320" y="2734056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2734056"/>
            <a:ext cx="64008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Shape 24"/>
          <p:cNvSpPr/>
          <p:nvPr/>
        </p:nvSpPr>
        <p:spPr>
          <a:xfrm>
            <a:off x="274320" y="2734056"/>
            <a:ext cx="1600200" cy="457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798064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1520" y="282549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D32"/>
                </a:solidFill>
              </a:rPr>
              <a:t>SCORING ENGINE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1920240" y="2825496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Skill Match  |  Experience  |  Education  |  Projects  |  Comm.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572000" y="3191256"/>
            <a:ext cx="0" cy="731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74320" y="3273552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74320" y="3273552"/>
            <a:ext cx="64008" cy="4572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7" name="Shape 30"/>
          <p:cNvSpPr/>
          <p:nvPr/>
        </p:nvSpPr>
        <p:spPr>
          <a:xfrm>
            <a:off x="274320" y="3273552"/>
            <a:ext cx="1600200" cy="457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3337560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31520" y="33649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8C42"/>
                </a:solidFill>
              </a:rPr>
              <a:t>RANKING ENGINE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1920240" y="3364992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Weighted Score Aggregation  |  Threshold Filtering  |  Sort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572000" y="3730752"/>
            <a:ext cx="0" cy="731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274320" y="3813048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274320" y="3813048"/>
            <a:ext cx="64008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4" name="Shape 36"/>
          <p:cNvSpPr/>
          <p:nvPr/>
        </p:nvSpPr>
        <p:spPr>
          <a:xfrm>
            <a:off x="274320" y="3813048"/>
            <a:ext cx="1600200" cy="457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877056"/>
            <a:ext cx="292608" cy="29260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31520" y="39044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5100"/>
                </a:solidFill>
              </a:rPr>
              <a:t>OUTPUT / REPORT LAYER</a:t>
            </a:r>
            <a:endParaRPr lang="en-US" sz="750" dirty="0"/>
          </a:p>
        </p:txBody>
      </p:sp>
      <p:sp>
        <p:nvSpPr>
          <p:cNvPr id="47" name="Text 38"/>
          <p:cNvSpPr/>
          <p:nvPr/>
        </p:nvSpPr>
        <p:spPr>
          <a:xfrm>
            <a:off x="1920240" y="3904488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Ranked Shortlist  |  Score Report  |  CSV Export  |  API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4572000" y="4270248"/>
            <a:ext cx="0" cy="731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274320" y="4352544"/>
            <a:ext cx="64008" cy="457200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51" name="Shape 42"/>
          <p:cNvSpPr/>
          <p:nvPr/>
        </p:nvSpPr>
        <p:spPr>
          <a:xfrm>
            <a:off x="274320" y="4352544"/>
            <a:ext cx="1600200" cy="457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4416552"/>
            <a:ext cx="292608" cy="292608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31520" y="444398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D1457"/>
                </a:solidFill>
              </a:rPr>
              <a:t>HUMAN-IN-THE-LOOP</a:t>
            </a:r>
            <a:endParaRPr lang="en-US" sz="750" dirty="0"/>
          </a:p>
        </p:txBody>
      </p:sp>
      <p:sp>
        <p:nvSpPr>
          <p:cNvPr id="54" name="Text 44"/>
          <p:cNvSpPr/>
          <p:nvPr/>
        </p:nvSpPr>
        <p:spPr>
          <a:xfrm>
            <a:off x="1920240" y="4443984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HR Dashboard  |  Score Override  |  Reason Logging  |  Audit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2743200" cy="1664208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4416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1280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LLM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18013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Claude Sonnet 4 (Anthropic)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218541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GPT-4o fallback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1143000"/>
            <a:ext cx="2743200" cy="1664208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1143000"/>
            <a:ext cx="2743200" cy="64008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3441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13632" y="1280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NLP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29000" y="18013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spaCy (NER, POS)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429000" y="218541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NLTK (tokenization)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217920" y="1143000"/>
            <a:ext cx="2743200" cy="1664208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114300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3441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39712" y="1280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Embeddings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55080" y="18013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Sentence-Transformers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355080" y="218541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all-MiniLM-L6-v2 model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" y="3017520"/>
            <a:ext cx="2743200" cy="1664208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65760" y="3017520"/>
            <a:ext cx="2743200" cy="64008"/>
          </a:xfrm>
          <a:prstGeom prst="rect">
            <a:avLst/>
          </a:prstGeom>
          <a:solidFill>
            <a:srgbClr val="0288D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21868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7552" y="3154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</a:rPr>
              <a:t>Backend / API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02920" y="367588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8D1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FastAPI (Python)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02920" y="405993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8D1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REST endpoints, async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91840" y="3017520"/>
            <a:ext cx="2743200" cy="1664208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91840" y="3017520"/>
            <a:ext cx="2743200" cy="64008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218688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913632" y="3154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</a:rPr>
              <a:t>Parsing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429000" y="367588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PyMuPDF (PDF)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3429000" y="405993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python-docx (Word)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217920" y="3017520"/>
            <a:ext cx="2743200" cy="1664208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0" y="3017520"/>
            <a:ext cx="2743200" cy="64008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218688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839712" y="3154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Frontend / UI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355080" y="367588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React + Tailwind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6355080" y="405993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</a:rPr>
              <a:t>▸  </a:t>
            </a:r>
            <a:r>
              <a:rPr lang="en-US" sz="1000" dirty="0">
                <a:solidFill>
                  <a:srgbClr val="CBD5E1"/>
                </a:solidFill>
              </a:rPr>
              <a:t>Score dashboard, override panel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Agent-Based Design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595360" y="201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143000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527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1216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JD Parser Agent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147218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Analyzes the job description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38912" y="17465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Extracts required &amp; preferred skills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38912" y="20208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Identifies experience level &amp; education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38912" y="2295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Parses role, department, and location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5694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Outputs structured JSON schema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54880" y="1143000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252728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1216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Profile Parser Agent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49240" y="147218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Processes applicant data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919472" y="17465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Extracts skills, experience, certifications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919472" y="20208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Handles PDF, DOCX, and LinkedIn JSON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919472" y="2295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Normalizes dates and job titles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919472" y="25694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Resolves synonyms (e.g., ML → Machine Learning)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274320" y="3044952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74320" y="3044952"/>
            <a:ext cx="64008" cy="173736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15468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8680" y="31181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Scoring Agent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68680" y="337413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Evaluates each candidate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38912" y="36484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Computes 5-dimension score vector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38912" y="39227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Uses semantic similarity for skill matching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38912" y="41970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Weights applied per rubric (see Slide 9)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38912" y="44714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Generates score justification text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754880" y="3044952"/>
            <a:ext cx="422452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754880" y="3044952"/>
            <a:ext cx="64008" cy="1737360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154680"/>
            <a:ext cx="320040" cy="3200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49240" y="31181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Ranking Agent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5349240" y="337413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Produces final shortlist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919472" y="36484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Sorts candidates by weighted total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4919472" y="39227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Applies minimum threshold filters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4919472" y="41970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Flags borderline cases for HR review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4919472" y="44714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● </a:t>
            </a:r>
            <a:r>
              <a:rPr lang="en-US" sz="950" dirty="0">
                <a:solidFill>
                  <a:srgbClr val="0D1B3E"/>
                </a:solidFill>
              </a:rPr>
              <a:t>Exports ranked report (PDF / CSV)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Scoring Rubric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</a:rPr>
              <a:t>Multi-dimensional evaluation framework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880360" y="1353312"/>
            <a:ext cx="159105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5"/>
          <p:cNvSpPr/>
          <p:nvPr/>
        </p:nvSpPr>
        <p:spPr>
          <a:xfrm>
            <a:off x="2880360" y="1353312"/>
            <a:ext cx="5303520" cy="310896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9" name="Shape 6"/>
          <p:cNvSpPr/>
          <p:nvPr/>
        </p:nvSpPr>
        <p:spPr>
          <a:xfrm>
            <a:off x="2880360" y="1353312"/>
            <a:ext cx="159105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Skills Match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62856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30%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07792" y="1664208"/>
            <a:ext cx="5257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Semantic similarity between JD skills and candidate skills using embeddings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5760" y="1956816"/>
            <a:ext cx="8412480" cy="64008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2121408"/>
            <a:ext cx="1325880" cy="3108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2"/>
          <p:cNvSpPr/>
          <p:nvPr/>
        </p:nvSpPr>
        <p:spPr>
          <a:xfrm>
            <a:off x="2880360" y="2121408"/>
            <a:ext cx="5303520" cy="310896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16" name="Shape 13"/>
          <p:cNvSpPr/>
          <p:nvPr/>
        </p:nvSpPr>
        <p:spPr>
          <a:xfrm>
            <a:off x="2880360" y="2121408"/>
            <a:ext cx="1325880" cy="3108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139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Experience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97680" y="21396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25%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07792" y="2432304"/>
            <a:ext cx="5257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Years + seniority relevance; penalises over/under-qualification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65760" y="2724912"/>
            <a:ext cx="8412480" cy="64008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880360" y="2889504"/>
            <a:ext cx="1060704" cy="310896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2" name="Shape 19"/>
          <p:cNvSpPr/>
          <p:nvPr/>
        </p:nvSpPr>
        <p:spPr>
          <a:xfrm>
            <a:off x="2880360" y="2889504"/>
            <a:ext cx="5303520" cy="310896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23" name="Shape 20"/>
          <p:cNvSpPr/>
          <p:nvPr/>
        </p:nvSpPr>
        <p:spPr>
          <a:xfrm>
            <a:off x="2880360" y="2889504"/>
            <a:ext cx="1060704" cy="310896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032504" y="29077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42"/>
                </a:solidFill>
              </a:rPr>
              <a:t>20%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907792" y="3200400"/>
            <a:ext cx="5257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Relevance of past projects to JD domain; GitHub/portfolio bonus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65760" y="3493008"/>
            <a:ext cx="8412480" cy="64008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880360" y="3657600"/>
            <a:ext cx="795528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6"/>
          <p:cNvSpPr/>
          <p:nvPr/>
        </p:nvSpPr>
        <p:spPr>
          <a:xfrm>
            <a:off x="2880360" y="3657600"/>
            <a:ext cx="5303520" cy="310896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30" name="Shape 27"/>
          <p:cNvSpPr/>
          <p:nvPr/>
        </p:nvSpPr>
        <p:spPr>
          <a:xfrm>
            <a:off x="2880360" y="3657600"/>
            <a:ext cx="795528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3675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Education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767328" y="36758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15%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907792" y="3968496"/>
            <a:ext cx="5257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Degree level &amp; field alignment; bonus for top-ranked institutions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65760" y="4261104"/>
            <a:ext cx="8412480" cy="640080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880360" y="4425696"/>
            <a:ext cx="530352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3"/>
          <p:cNvSpPr/>
          <p:nvPr/>
        </p:nvSpPr>
        <p:spPr>
          <a:xfrm>
            <a:off x="2880360" y="4425696"/>
            <a:ext cx="5303520" cy="310896"/>
          </a:xfrm>
          <a:prstGeom prst="rect">
            <a:avLst/>
          </a:prstGeom>
          <a:solidFill>
            <a:srgbClr val="1E3060"/>
          </a:solidFill>
          <a:ln/>
        </p:spPr>
      </p:sp>
      <p:sp>
        <p:nvSpPr>
          <p:cNvPr id="37" name="Shape 34"/>
          <p:cNvSpPr/>
          <p:nvPr/>
        </p:nvSpPr>
        <p:spPr>
          <a:xfrm>
            <a:off x="2880360" y="4425696"/>
            <a:ext cx="530352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" y="4443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Communication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502152" y="4443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10%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907792" y="4736592"/>
            <a:ext cx="5257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</a:rPr>
              <a:t>Resume readability, structure quality, and LinkedIn recommendation count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65760" y="4773168"/>
            <a:ext cx="8412480" cy="237744"/>
          </a:xfrm>
          <a:prstGeom prst="roundRect">
            <a:avLst>
              <a:gd name="adj" fmla="val 19231"/>
            </a:avLst>
          </a:prstGeom>
          <a:solidFill>
            <a:srgbClr val="000000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Total = 100%   |   Score range: 0–100   |   Shortlist threshold: ≥ 65   |   Top-N: configurable (default 10)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Example Output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595360" y="201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7680960" cy="32004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Candidate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Skills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Projects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Edu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23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867139"/>
              </p:ext>
            </p:extLst>
          </p:nvPr>
        </p:nvGraphicFramePr>
        <p:xfrm>
          <a:off x="274320" y="1435608"/>
          <a:ext cx="7680960" cy="47548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Mridul Garg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ML Engineer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88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</a:rPr>
                        <a:t>SHORTLIST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880003"/>
              </p:ext>
            </p:extLst>
          </p:nvPr>
        </p:nvGraphicFramePr>
        <p:xfrm>
          <a:off x="274320" y="2002536"/>
          <a:ext cx="7680960" cy="47548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Manan Nasa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AI 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C896"/>
                          </a:solidFill>
                        </a:rPr>
                        <a:t>SHORTLIST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843231"/>
              </p:ext>
            </p:extLst>
          </p:nvPr>
        </p:nvGraphicFramePr>
        <p:xfrm>
          <a:off x="274320" y="2569464"/>
          <a:ext cx="7680960" cy="47548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Lalit Chaudhary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AI Researcher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65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74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REVIEW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865416"/>
              </p:ext>
            </p:extLst>
          </p:nvPr>
        </p:nvGraphicFramePr>
        <p:xfrm>
          <a:off x="274320" y="3136392"/>
          <a:ext cx="7680960" cy="47548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Dhruv Ahlawat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Backend Engineer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65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63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REJECT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Shape 4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5"/>
          <p:cNvSpPr/>
          <p:nvPr/>
        </p:nvSpPr>
        <p:spPr>
          <a:xfrm>
            <a:off x="502920" y="4736592"/>
            <a:ext cx="164592" cy="16459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14" name="Text 6"/>
          <p:cNvSpPr/>
          <p:nvPr/>
        </p:nvSpPr>
        <p:spPr>
          <a:xfrm>
            <a:off x="749808" y="47000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SHORTLIST  ≥ 75</a:t>
            </a:r>
            <a:endParaRPr lang="en-US" sz="900" dirty="0"/>
          </a:p>
        </p:txBody>
      </p:sp>
      <p:sp>
        <p:nvSpPr>
          <p:cNvPr id="15" name="Shape 7"/>
          <p:cNvSpPr/>
          <p:nvPr/>
        </p:nvSpPr>
        <p:spPr>
          <a:xfrm>
            <a:off x="2606040" y="473659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8"/>
          <p:cNvSpPr/>
          <p:nvPr/>
        </p:nvSpPr>
        <p:spPr>
          <a:xfrm>
            <a:off x="2852928" y="47000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REVIEW  65–74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4709160" y="473659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0"/>
          <p:cNvSpPr/>
          <p:nvPr/>
        </p:nvSpPr>
        <p:spPr>
          <a:xfrm>
            <a:off x="4956048" y="47000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REJECT  &lt; 65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6492240" y="4700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* Scores are out of 100 per dimension. Weighted total determines final ranking.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Human-in-the-Loop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</a:rPr>
              <a:t>AI recommends — humans decide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484632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70432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35331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24358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 Transparency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05840" y="153619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Full breakdown visible per candidate — HR sees exactly why each score was assigned.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" y="2121408"/>
            <a:ext cx="484632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121408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3042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1945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Override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0584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HR can increase or decrease any dimension score with written justification required.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3072384"/>
            <a:ext cx="484632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5760" y="3072384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5526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14553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Reason Logging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05840" y="343814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All manual changes are timestamped and stored in an immutable audit log for compliance.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65760" y="4023360"/>
            <a:ext cx="4846320" cy="8046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65760" y="4023360"/>
            <a:ext cx="64008" cy="8046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20624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409651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Fairness Controls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05840" y="43891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Demographic flags hidden by default; system enforces equal-opportunity screening.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5532120" y="1170432"/>
            <a:ext cx="3246120" cy="3621024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5623560" y="1261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Override Workflow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669280" y="1737360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2"/>
          <p:cNvSpPr/>
          <p:nvPr/>
        </p:nvSpPr>
        <p:spPr>
          <a:xfrm>
            <a:off x="56692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126480" y="17739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AI ranks candidates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838444" y="2084832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5669280" y="2340864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26"/>
          <p:cNvSpPr/>
          <p:nvPr/>
        </p:nvSpPr>
        <p:spPr>
          <a:xfrm>
            <a:off x="566928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126480" y="2377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HR reviews shortlist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838444" y="2688336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6" name="Shape 29"/>
          <p:cNvSpPr/>
          <p:nvPr/>
        </p:nvSpPr>
        <p:spPr>
          <a:xfrm>
            <a:off x="5669280" y="2944368"/>
            <a:ext cx="347472" cy="347472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37" name="Text 30"/>
          <p:cNvSpPr/>
          <p:nvPr/>
        </p:nvSpPr>
        <p:spPr>
          <a:xfrm>
            <a:off x="566928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126480" y="29809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Override triggered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5838444" y="3291840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40" name="Shape 33"/>
          <p:cNvSpPr/>
          <p:nvPr/>
        </p:nvSpPr>
        <p:spPr>
          <a:xfrm>
            <a:off x="5669280" y="354787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4"/>
          <p:cNvSpPr/>
          <p:nvPr/>
        </p:nvSpPr>
        <p:spPr>
          <a:xfrm>
            <a:off x="566928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6126480" y="35844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Reason documented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5838444" y="3895344"/>
            <a:ext cx="0" cy="256032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44" name="Shape 37"/>
          <p:cNvSpPr/>
          <p:nvPr/>
        </p:nvSpPr>
        <p:spPr>
          <a:xfrm>
            <a:off x="5669280" y="4151376"/>
            <a:ext cx="347472" cy="347472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5" name="Text 38"/>
          <p:cNvSpPr/>
          <p:nvPr/>
        </p:nvSpPr>
        <p:spPr>
          <a:xfrm>
            <a:off x="5669280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126480" y="4187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Audit log updated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365760" y="4773168"/>
            <a:ext cx="8412480" cy="256032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48" name="Text 41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D8"/>
                </a:solidFill>
              </a:rPr>
              <a:t>Key Principle: AI is a decision-support tool, not a replacement for human judgement in hiring.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Mandatory Disclosure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0" y="25603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256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⚠ CRITICAL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115568"/>
            <a:ext cx="422452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4224528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11887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LLM &amp; Framework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50876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Model: Claude Sonnet 4 (Anthropic)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180136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Why: Superior reasoning, cost-effective, safe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209397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Framework: Custom LangChain pipeline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238658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Agents: 4 specialised (JD / Profile / Scoring / Rank)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267919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Orchestration: Async task queue (FastAPI)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45152" y="1115568"/>
            <a:ext cx="4224528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45152" y="1115568"/>
            <a:ext cx="42245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11887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Security &amp; Risk Mitigation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150876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Prompt injection: Input sanitization layer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54880" y="180136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Restricted system prompts (read-only context)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54880" y="209397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External input validation + schema enforcement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4880" y="238658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API keys: Environment variables only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54880" y="267919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No hardcoded secrets in codebase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182112"/>
            <a:ext cx="4224528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182112"/>
            <a:ext cx="4224528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6" name="Text 23"/>
          <p:cNvSpPr/>
          <p:nvPr/>
        </p:nvSpPr>
        <p:spPr>
          <a:xfrm>
            <a:off x="384048" y="32552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Data Privacy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84048" y="358444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No sensitive PII stored permanently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84048" y="387705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Local processing + secure API calls only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84048" y="416966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AES-256 encryption for stored data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84048" y="446227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GDPR-compliant data retention policies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45152" y="3182112"/>
            <a:ext cx="4224528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645152" y="3182112"/>
            <a:ext cx="4224528" cy="5486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32552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Credential Security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754880" y="358444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API keys in .env files (never in git)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754880" y="387705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Role-based access control enforced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754880" y="416966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OAuth 2.0 for HR dashboard login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754880" y="446227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42"/>
                </a:solidFill>
              </a:rPr>
              <a:t>▸  </a:t>
            </a:r>
            <a:r>
              <a:rPr lang="en-US" sz="950" dirty="0">
                <a:solidFill>
                  <a:srgbClr val="0D1B3E"/>
                </a:solidFill>
              </a:rPr>
              <a:t>Audit trail for all system access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Challenges Faced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8C42"/>
                </a:solidFill>
              </a:rPr>
              <a:t>Key technical and design hurdles encountered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4187952" cy="17190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70432"/>
            <a:ext cx="64008" cy="1719072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30759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280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Resume Parsing Variability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168249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502920" y="1682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PROBLEM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1207008" y="1664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Inconsistent formatting across PDF, DOCX, and scanned documents led to extraction errors.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02920" y="210312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2103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C896"/>
                </a:solidFill>
              </a:rPr>
              <a:t>SOLUTION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207008" y="2084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Implemented multi-parser fallback chain (PyMuPDF → pdfplumber → OCR) with schema validation.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773168" y="1170432"/>
            <a:ext cx="4187952" cy="17190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73168" y="1170432"/>
            <a:ext cx="64008" cy="171907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30759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13248" y="1280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Skill Extraction Accuracy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910328" y="1682496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1" name="Text 16"/>
          <p:cNvSpPr/>
          <p:nvPr/>
        </p:nvSpPr>
        <p:spPr>
          <a:xfrm>
            <a:off x="4910328" y="1682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PROBLEM</a:t>
            </a:r>
            <a:endParaRPr lang="en-US" sz="650" dirty="0"/>
          </a:p>
        </p:txBody>
      </p:sp>
      <p:sp>
        <p:nvSpPr>
          <p:cNvPr id="22" name="Text 17"/>
          <p:cNvSpPr/>
          <p:nvPr/>
        </p:nvSpPr>
        <p:spPr>
          <a:xfrm>
            <a:off x="5614416" y="1664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Abbreviations, synonyms, and domain jargon caused false negatives in skill matching.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910328" y="210312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24" name="Text 19"/>
          <p:cNvSpPr/>
          <p:nvPr/>
        </p:nvSpPr>
        <p:spPr>
          <a:xfrm>
            <a:off x="4910328" y="2103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C896"/>
                </a:solidFill>
              </a:rPr>
              <a:t>SOLUTION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5614416" y="2084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Built custom skill taxonomy with synonym mapping; fine-tuned NER model on HR dataset.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65760" y="3072384"/>
            <a:ext cx="4187952" cy="17190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3072384"/>
            <a:ext cx="64008" cy="171907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09544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05840" y="3182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Scoring Fairness &amp; Bias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02920" y="3584448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31" name="Text 25"/>
          <p:cNvSpPr/>
          <p:nvPr/>
        </p:nvSpPr>
        <p:spPr>
          <a:xfrm>
            <a:off x="502920" y="3584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PROBLEM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1207008" y="3566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LLM outputs showed subtle bias correlated with name, institution, and writing style.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02920" y="40050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34" name="Text 28"/>
          <p:cNvSpPr/>
          <p:nvPr/>
        </p:nvSpPr>
        <p:spPr>
          <a:xfrm>
            <a:off x="502920" y="4005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C896"/>
                </a:solidFill>
              </a:rPr>
              <a:t>SOLUTION</a:t>
            </a:r>
            <a:endParaRPr lang="en-US" sz="650" dirty="0"/>
          </a:p>
        </p:txBody>
      </p:sp>
      <p:sp>
        <p:nvSpPr>
          <p:cNvPr id="35" name="Text 29"/>
          <p:cNvSpPr/>
          <p:nvPr/>
        </p:nvSpPr>
        <p:spPr>
          <a:xfrm>
            <a:off x="1207008" y="3986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Anonymisation layer strips identifying info before scoring; regular bias audits conducted.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773168" y="3072384"/>
            <a:ext cx="4187952" cy="17190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773168" y="3072384"/>
            <a:ext cx="64008" cy="17190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209544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413248" y="3182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Latency at Scale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4910328" y="3584448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41" name="Text 34"/>
          <p:cNvSpPr/>
          <p:nvPr/>
        </p:nvSpPr>
        <p:spPr>
          <a:xfrm>
            <a:off x="4910328" y="3584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</a:rPr>
              <a:t>PROBLEM</a:t>
            </a:r>
            <a:endParaRPr lang="en-US" sz="650" dirty="0"/>
          </a:p>
        </p:txBody>
      </p:sp>
      <p:sp>
        <p:nvSpPr>
          <p:cNvPr id="42" name="Text 35"/>
          <p:cNvSpPr/>
          <p:nvPr/>
        </p:nvSpPr>
        <p:spPr>
          <a:xfrm>
            <a:off x="5614416" y="3566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Processing 200+ resumes sequentially with LLM calls caused unacceptable latency.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4910328" y="4005072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44" name="Text 37"/>
          <p:cNvSpPr/>
          <p:nvPr/>
        </p:nvSpPr>
        <p:spPr>
          <a:xfrm>
            <a:off x="4910328" y="4005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0C896"/>
                </a:solidFill>
              </a:rPr>
              <a:t>SOLUTION</a:t>
            </a:r>
            <a:endParaRPr lang="en-US" sz="650" dirty="0"/>
          </a:p>
        </p:txBody>
      </p:sp>
      <p:sp>
        <p:nvSpPr>
          <p:cNvPr id="45" name="Text 38"/>
          <p:cNvSpPr/>
          <p:nvPr/>
        </p:nvSpPr>
        <p:spPr>
          <a:xfrm>
            <a:off x="5614416" y="3986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Async batch processing + caching for identical JDs reduced P95 latency by 74%.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459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Improvements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595360" y="201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5978" y="1170432"/>
            <a:ext cx="2743200" cy="3255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70432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1170432"/>
            <a:ext cx="2743200" cy="65836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Phase 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" y="19933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Real-time LinkedIn API integration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2920" y="27980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Video interview AI analysis module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02920" y="36027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ATS system connectors (Greenhouse, Lever)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46120" y="1170432"/>
            <a:ext cx="2743200" cy="3255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46120" y="1170432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6"/>
          <p:cNvSpPr/>
          <p:nvPr/>
        </p:nvSpPr>
        <p:spPr>
          <a:xfrm>
            <a:off x="3246120" y="1170432"/>
            <a:ext cx="2743200" cy="65836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29844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4048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Phase 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429000" y="19933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Advanced bias mitigation (fairness-aware ML)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429000" y="27980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Multi-language resume support (12+ languages)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429000" y="36027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Predictive hiring success scoring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172200" y="1170432"/>
            <a:ext cx="2743200" cy="32552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172200" y="1170432"/>
            <a:ext cx="2743200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1" name="Shape 26"/>
          <p:cNvSpPr/>
          <p:nvPr/>
        </p:nvSpPr>
        <p:spPr>
          <a:xfrm>
            <a:off x="6172200" y="1170432"/>
            <a:ext cx="2743200" cy="65836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298448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6656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</a:rPr>
              <a:t>Phase 4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355080" y="19933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Agentic interview scheduling assistant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355080" y="27980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Company-specific model fine-tuning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355080" y="36027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</a:rPr>
              <a:t>→  </a:t>
            </a:r>
            <a:r>
              <a:rPr lang="en-US" sz="950" dirty="0">
                <a:solidFill>
                  <a:srgbClr val="0D1B3E"/>
                </a:solidFill>
              </a:rPr>
              <a:t>Cross-role talent pipeline building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274320" y="4626864"/>
            <a:ext cx="8595360" cy="347472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718304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822960" y="4709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Vision: Become the industry-standard open-source AI hiring assistant by 2026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840480" cy="3840480"/>
          </a:xfrm>
          <a:prstGeom prst="ellipse">
            <a:avLst/>
          </a:prstGeom>
          <a:solidFill>
            <a:srgbClr val="132354"/>
          </a:solidFill>
          <a:ln w="12700">
            <a:solidFill>
              <a:srgbClr val="132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32354"/>
          </a:solidFill>
          <a:ln w="12700">
            <a:solidFill>
              <a:srgbClr val="1323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371600" cy="1371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9728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4D8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14800" cy="12618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280160"/>
            <a:ext cx="64008" cy="1261872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3898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13716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Speed &amp; Efficiency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1792" y="184708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Screening time reduced from days to minutes — handles 500+ resumes in a single pipeline run.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73168" y="1280160"/>
            <a:ext cx="4114800" cy="12618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73168" y="1280160"/>
            <a:ext cx="64008" cy="126187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38988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31536" y="13716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Consistent &amp; Transparent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37760" y="184708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Deterministic rubric ensures every candidate is evaluated on identical criteria with full explainability.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2697480"/>
            <a:ext cx="4114800" cy="12618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697480"/>
            <a:ext cx="64008" cy="126187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28072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27889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 + AI = Optimal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1792" y="32644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AI handles volume and consistency; humans provide contextual judgement and ethical oversight.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773168" y="2697480"/>
            <a:ext cx="4114800" cy="1261872"/>
          </a:xfrm>
          <a:prstGeom prst="rect">
            <a:avLst/>
          </a:prstGeom>
          <a:solidFill>
            <a:srgbClr val="13235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73168" y="2697480"/>
            <a:ext cx="64008" cy="1261872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80720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31536" y="27889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Responsible AI Built-In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937760" y="32644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Bias mitigation, privacy controls, and mandatory disclosure baked in from day one — not added later.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517136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9808" y="44988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Thank You  ·  Questions Welcome  ·  HR Resume &amp; LinkedIn Shortlisting 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1405</Words>
  <Application>Microsoft Office PowerPoint</Application>
  <PresentationFormat>On-screen Show (16:9)</PresentationFormat>
  <Paragraphs>331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Resume &amp; LinkedIn Shortlisting Agent</dc:title>
  <dc:subject>PptxGenJS Presentation</dc:subject>
  <dc:creator>AI Systems Lab</dc:creator>
  <cp:lastModifiedBy>Kartik Panwar</cp:lastModifiedBy>
  <cp:revision>2</cp:revision>
  <dcterms:created xsi:type="dcterms:W3CDTF">2026-05-13T18:27:21Z</dcterms:created>
  <dcterms:modified xsi:type="dcterms:W3CDTF">2026-05-13T18:37:32Z</dcterms:modified>
</cp:coreProperties>
</file>